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lus Jakarta Sans"/>
      <p:regular r:id="rId11"/>
      <p:bold r:id="rId12"/>
      <p:italic r:id="rId13"/>
      <p:boldItalic r:id="rId14"/>
    </p:embeddedFont>
    <p:embeddedFont>
      <p:font typeface="Plus Jakarta Sans SemiBold"/>
      <p:regular r:id="rId15"/>
      <p:bold r:id="rId16"/>
      <p:italic r:id="rId17"/>
      <p:boldItalic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MKKwF24g3gcCcYgDLJp98ojUN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font" Target="fonts/PlusJakartaSans-regular.fntdata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PlusJakartaSans-italic.fntdata"/><Relationship Id="rId12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SemiBold-regular.fntdata"/><Relationship Id="rId14" Type="http://schemas.openxmlformats.org/officeDocument/2006/relationships/font" Target="fonts/PlusJakartaSans-boldItalic.fntdata"/><Relationship Id="rId17" Type="http://schemas.openxmlformats.org/officeDocument/2006/relationships/font" Target="fonts/PlusJakartaSansSemiBold-italic.fntdata"/><Relationship Id="rId16" Type="http://schemas.openxmlformats.org/officeDocument/2006/relationships/font" Target="fonts/PlusJakartaSans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paceGrotesk-regular.fntdata"/><Relationship Id="rId6" Type="http://schemas.openxmlformats.org/officeDocument/2006/relationships/slide" Target="slides/slide1.xml"/><Relationship Id="rId18" Type="http://schemas.openxmlformats.org/officeDocument/2006/relationships/font" Target="fonts/PlusJakarta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20.png"/><Relationship Id="rId13" Type="http://schemas.openxmlformats.org/officeDocument/2006/relationships/image" Target="../media/image13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Relationship Id="rId15" Type="http://schemas.openxmlformats.org/officeDocument/2006/relationships/image" Target="../media/image4.png"/><Relationship Id="rId1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2.png"/><Relationship Id="rId15" Type="http://schemas.openxmlformats.org/officeDocument/2006/relationships/image" Target="../media/image18.png"/><Relationship Id="rId14" Type="http://schemas.openxmlformats.org/officeDocument/2006/relationships/image" Target="../media/image19.png"/><Relationship Id="rId16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2.png"/><Relationship Id="rId13" Type="http://schemas.openxmlformats.org/officeDocument/2006/relationships/image" Target="../media/image36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9" Type="http://schemas.openxmlformats.org/officeDocument/2006/relationships/image" Target="../media/image45.png"/><Relationship Id="rId15" Type="http://schemas.openxmlformats.org/officeDocument/2006/relationships/image" Target="../media/image53.png"/><Relationship Id="rId14" Type="http://schemas.openxmlformats.org/officeDocument/2006/relationships/image" Target="../media/image35.png"/><Relationship Id="rId16" Type="http://schemas.openxmlformats.org/officeDocument/2006/relationships/image" Target="../media/image52.png"/><Relationship Id="rId5" Type="http://schemas.openxmlformats.org/officeDocument/2006/relationships/image" Target="../media/image1.png"/><Relationship Id="rId6" Type="http://schemas.openxmlformats.org/officeDocument/2006/relationships/image" Target="../media/image49.png"/><Relationship Id="rId7" Type="http://schemas.openxmlformats.org/officeDocument/2006/relationships/image" Target="../media/image33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1.png"/><Relationship Id="rId13" Type="http://schemas.openxmlformats.org/officeDocument/2006/relationships/image" Target="../media/image47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0.png"/><Relationship Id="rId9" Type="http://schemas.openxmlformats.org/officeDocument/2006/relationships/image" Target="../media/image41.png"/><Relationship Id="rId15" Type="http://schemas.openxmlformats.org/officeDocument/2006/relationships/image" Target="../media/image44.png"/><Relationship Id="rId1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42.png"/><Relationship Id="rId7" Type="http://schemas.openxmlformats.org/officeDocument/2006/relationships/image" Target="../media/image51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9970" y="1800820"/>
            <a:ext cx="361205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5062" y="4285654"/>
            <a:ext cx="73818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343650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3837596" y="2381845"/>
            <a:ext cx="4516658" cy="63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SmartExpense AI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047875" y="3207543"/>
            <a:ext cx="809625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Digitalización y Reconstrucción Inteligente de Facturas mediante Inteligencia Artificial y Visión Computacional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71500" y="6467475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SmartExpense AI Presentation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1229975" y="6467475"/>
            <a:ext cx="390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 / 05</a:t>
            </a:r>
            <a:endParaRPr/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89995" y="1905595"/>
            <a:ext cx="14406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795587" y="4485679"/>
            <a:ext cx="36385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Integrantes del Equipo</a:t>
            </a: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Tomás Hinojosa • Diego Melo • Cristóbal Ballesteros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196137" y="4485679"/>
            <a:ext cx="22002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Contexto Académico</a:t>
            </a: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Defensa de Proyecto Capstone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815137" y="4485679"/>
            <a:ext cx="9525" cy="371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04975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20465"/>
            <a:ext cx="5286375" cy="1340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51609"/>
            <a:ext cx="5286375" cy="1119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61296"/>
            <a:ext cx="5286375" cy="1119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343650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571500" y="6467475"/>
            <a:ext cx="2257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SmartExpense AI • Contexto Operativo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1201400" y="64674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02 / 05</a:t>
            </a:r>
            <a:endParaRPr/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43650" y="1714500"/>
            <a:ext cx="5267325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0100" y="202049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355163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100" y="486132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4400" y="21347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1390650" y="2020490"/>
            <a:ext cx="44805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Pérdida Crítica de Tiempo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90650" y="2296715"/>
            <a:ext cx="4267200" cy="66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departamentos contables pierden cientos de horas mensuales ingresando datos manualmente desde comprobantes físicos.</a:t>
            </a:r>
            <a:endParaRPr/>
          </a:p>
        </p:txBody>
      </p:sp>
      <p:pic>
        <p:nvPicPr>
          <p:cNvPr descr="image.png" id="115" name="Google Shape;115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0112" y="3665934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390650" y="3551634"/>
            <a:ext cx="44805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Documentos Deteriorados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390650" y="3827859"/>
            <a:ext cx="4267200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cuadratura tributaria se retrasa debido a recibos borrosos, desgastados o con texto parcialmente ilegible.</a:t>
            </a:r>
            <a:endParaRPr/>
          </a:p>
        </p:txBody>
      </p:sp>
      <p:pic>
        <p:nvPicPr>
          <p:cNvPr descr="image.png" id="118" name="Google Shape;118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14400" y="497562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/>
          <p:nvPr/>
        </p:nvSpPr>
        <p:spPr>
          <a:xfrm>
            <a:off x="1390650" y="4861321"/>
            <a:ext cx="44805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Riesgo de Privacidad en la Nube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90650" y="5137546"/>
            <a:ext cx="4267200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empresas rechazan plataformas comerciales masivas por temor a exponer su información financiera confidencial.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Problema de Negocio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571500" y="1028700"/>
            <a:ext cx="76200" cy="342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7767"/>
            <a:ext cx="5524500" cy="1013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2439"/>
            <a:ext cx="5524500" cy="1013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7111"/>
            <a:ext cx="5524500" cy="1013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221783"/>
            <a:ext cx="5524500" cy="806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343650"/>
            <a:ext cx="52387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571500" y="571500"/>
            <a:ext cx="5800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Nuestra Solución</a:t>
            </a:r>
            <a:endParaRPr/>
          </a:p>
        </p:txBody>
      </p:sp>
      <p:pic>
        <p:nvPicPr>
          <p:cNvPr descr="image.png" id="134" name="Google Shape;13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571500" y="6467475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SmartExpense AI • Propuesta de Valor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5391150" y="64674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03 / 05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71500" y="1028700"/>
            <a:ext cx="76200" cy="342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0575" y="1974353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575" y="31590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0575" y="434369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575" y="542508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95350" y="2088653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1343025" y="1848742"/>
            <a:ext cx="47605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Extracción Automática de Métricas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343025" y="2086867"/>
            <a:ext cx="4533900" cy="41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Identificación precisa de montos, fechas, RUT y folios mediante modelos de IA.</a:t>
            </a:r>
            <a:endParaRPr/>
          </a:p>
        </p:txBody>
      </p:sp>
      <p:pic>
        <p:nvPicPr>
          <p:cNvPr descr="image.png" id="145" name="Google Shape;145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4875" y="32733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1343025" y="3033414"/>
            <a:ext cx="47605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Reconstrucción Inteligente (ML)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343025" y="3271539"/>
            <a:ext cx="4533900" cy="41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Inferencia y restauración de texto en áreas dañadas o ilegibles del documento.</a:t>
            </a:r>
            <a:endParaRPr/>
          </a:p>
        </p:txBody>
      </p:sp>
      <p:pic>
        <p:nvPicPr>
          <p:cNvPr descr="image.png" id="148" name="Google Shape;148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4875" y="445799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1343025" y="4218086"/>
            <a:ext cx="47605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Soberanía Total de Datos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343025" y="4456211"/>
            <a:ext cx="4533900" cy="41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Despliegue local (On-Premise) para garantizar privacidad financiera absoluta.</a:t>
            </a:r>
            <a:endParaRPr/>
          </a:p>
        </p:txBody>
      </p:sp>
      <p:pic>
        <p:nvPicPr>
          <p:cNvPr descr="image.png" id="151" name="Google Shape;151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3925" y="5539382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"/>
          <p:cNvSpPr txBox="1"/>
          <p:nvPr/>
        </p:nvSpPr>
        <p:spPr>
          <a:xfrm>
            <a:off x="1343025" y="5402758"/>
            <a:ext cx="4750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Exportación Estructurada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1343025" y="5640883"/>
            <a:ext cx="4524375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 directa de reportes Excel listos para sistemas contables ERP.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54102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076450"/>
            <a:ext cx="54102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14775"/>
            <a:ext cx="54102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3914775"/>
            <a:ext cx="54102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343650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 txBox="1"/>
          <p:nvPr/>
        </p:nvSpPr>
        <p:spPr>
          <a:xfrm>
            <a:off x="571500" y="6467475"/>
            <a:ext cx="238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SmartExpense AI • Infraestructura Técnica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1201400" y="64674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04 / 05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47725" y="2981325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Orquestación completa y aislada del sistema mediante contenedores Docker, facilitando un despliegue seguro y uniforme.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486525" y="2981325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relacional robusta y optimizada para el almacenamiento y la consulta eficiente de registros contables.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847725" y="481965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una API REST de alto rendimiento con Python, protegida mediante autenticación estricta por tokens JWT.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6486525" y="481965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 de algoritmos de procesamiento de imágenes y ML en un entorno local aislado y libre de dependencias externas.</a:t>
            </a:r>
            <a:endParaRPr/>
          </a:p>
        </p:txBody>
      </p:sp>
      <p:pic>
        <p:nvPicPr>
          <p:cNvPr descr="image.png" id="170" name="Google Shape;17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35267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35267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41910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1910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8212" y="247650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5425" y="2386012"/>
            <a:ext cx="1304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"/>
          <p:cNvSpPr txBox="1"/>
          <p:nvPr/>
        </p:nvSpPr>
        <p:spPr>
          <a:xfrm>
            <a:off x="1495425" y="2576512"/>
            <a:ext cx="23143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Microservicios en Docker</a:t>
            </a:r>
            <a:endParaRPr/>
          </a:p>
        </p:txBody>
      </p:sp>
      <p:pic>
        <p:nvPicPr>
          <p:cNvPr descr="image.png" id="177" name="Google Shape;17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4637" y="2476500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34225" y="2386012"/>
            <a:ext cx="10096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7134225" y="2576512"/>
            <a:ext cx="24543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 de Datos PostgreSQL</a:t>
            </a:r>
            <a:endParaRPr/>
          </a:p>
        </p:txBody>
      </p:sp>
      <p:pic>
        <p:nvPicPr>
          <p:cNvPr descr="image.png" id="180" name="Google Shape;18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212" y="431482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95425" y="4224337"/>
            <a:ext cx="7524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/>
        </p:nvSpPr>
        <p:spPr>
          <a:xfrm>
            <a:off x="1495425" y="4414837"/>
            <a:ext cx="21723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FastAPI (Python) &amp; JWT</a:t>
            </a:r>
            <a:endParaRPr/>
          </a:p>
        </p:txBody>
      </p:sp>
      <p:pic>
        <p:nvPicPr>
          <p:cNvPr descr="image.png" id="183" name="Google Shape;183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96062" y="4314825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34225" y="4224337"/>
            <a:ext cx="12192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7134225" y="4414837"/>
            <a:ext cx="25364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Visión Computacional Local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y Stack Tecnológico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571500" y="1028700"/>
            <a:ext cx="76200" cy="342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8146"/>
            <a:ext cx="3530500" cy="2964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2318146"/>
            <a:ext cx="3530649" cy="2964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850" y="2318146"/>
            <a:ext cx="3530500" cy="2964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12812" y="3908821"/>
            <a:ext cx="20478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3851" y="3908821"/>
            <a:ext cx="1524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5475" y="3908821"/>
            <a:ext cx="16192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6343650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 txBox="1"/>
          <p:nvPr/>
        </p:nvSpPr>
        <p:spPr>
          <a:xfrm>
            <a:off x="571500" y="6467475"/>
            <a:ext cx="2114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SmartExpense AI • Equipo Capstone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11201400" y="64674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05 / 05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283342" y="3786187"/>
            <a:ext cx="2106815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55750" y="263247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/>
          <p:nvPr/>
        </p:nvSpPr>
        <p:spPr>
          <a:xfrm>
            <a:off x="1542432" y="3584971"/>
            <a:ext cx="15886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Tomás Hinojosa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809625" y="4346971"/>
            <a:ext cx="30542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Líder de la orquestación con Docker y responsable del diseño y modelado de la base de datos relacional en PostgreSQL.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5042446" y="3786187"/>
            <a:ext cx="2106958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4851" y="263247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 txBox="1"/>
          <p:nvPr/>
        </p:nvSpPr>
        <p:spPr>
          <a:xfrm>
            <a:off x="5527807" y="3584971"/>
            <a:ext cx="11362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Diego Melo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4568725" y="4346971"/>
            <a:ext cx="305439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Encargado del desarrollo de la interfaz de usuario (UI), la integración de la API REST y los flujos de autenticación de seguridad.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8801692" y="3786187"/>
            <a:ext cx="2106815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74100" y="263247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 txBox="1"/>
          <p:nvPr/>
        </p:nvSpPr>
        <p:spPr>
          <a:xfrm>
            <a:off x="8776063" y="3584971"/>
            <a:ext cx="215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Cristóbal Ballesteros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8327975" y="4346971"/>
            <a:ext cx="30542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Responsable del entrenamiento, calibración e integración del modelo de Machine Learning para la reconstrucción de facturas.</a:t>
            </a:r>
            <a:endParaRPr/>
          </a:p>
        </p:txBody>
      </p:sp>
      <p:pic>
        <p:nvPicPr>
          <p:cNvPr descr="image.png" id="214" name="Google Shape;21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05351" y="2861071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64600" y="286107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Ejecución y Roles del Equipo</a:t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71500" y="1028700"/>
            <a:ext cx="76200" cy="342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